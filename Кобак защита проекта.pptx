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5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286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42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37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51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91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36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96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48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13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0232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008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6550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881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759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59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1F38E-7CCC-4963-A831-CCCFCD79C59F}" type="datetimeFigureOut">
              <a:rPr lang="ru-RU" smtClean="0"/>
              <a:t>23.05.2020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CC87AA-FDD2-4C6C-A04A-7FEDC3CD24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7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7609" y="293298"/>
            <a:ext cx="9629635" cy="3214074"/>
          </a:xfrm>
        </p:spPr>
        <p:txBody>
          <a:bodyPr/>
          <a:lstStyle/>
          <a:p>
            <a:pPr algn="ctr"/>
            <a:r>
              <a:rPr lang="ru-RU" dirty="0" smtClean="0"/>
              <a:t>Сравнение методов минимизации ФНП первого порядка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Студент</a:t>
            </a:r>
            <a:r>
              <a:rPr lang="en-US" dirty="0" smtClean="0"/>
              <a:t>: </a:t>
            </a:r>
            <a:r>
              <a:rPr lang="ru-RU" dirty="0" err="1" smtClean="0"/>
              <a:t>Кобак</a:t>
            </a:r>
            <a:r>
              <a:rPr lang="ru-RU" dirty="0" smtClean="0"/>
              <a:t> Ф.А.</a:t>
            </a:r>
            <a:endParaRPr lang="en-US" dirty="0" smtClean="0"/>
          </a:p>
          <a:p>
            <a:r>
              <a:rPr lang="ru-RU" dirty="0" smtClean="0"/>
              <a:t>Руководитель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Шинкевич</a:t>
            </a:r>
            <a:r>
              <a:rPr lang="ru-RU" dirty="0" smtClean="0"/>
              <a:t> Е.А.</a:t>
            </a: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50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734" y="2286000"/>
            <a:ext cx="4205217" cy="6153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Задачи проекта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9734" y="1301151"/>
            <a:ext cx="8596668" cy="106104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рассмотреть самые широко известные градиентные методы, изучить общую концепцию этой группы методов.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29734" y="762000"/>
            <a:ext cx="4205217" cy="6153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mtClean="0"/>
              <a:t>Цель проекта</a:t>
            </a:r>
            <a:r>
              <a:rPr lang="en-US" smtClean="0"/>
              <a:t>: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829734" y="3141601"/>
            <a:ext cx="89386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Изучить теорию касающуюся градиентных методов</a:t>
            </a:r>
            <a:r>
              <a:rPr lang="en-US" dirty="0" smtClean="0"/>
              <a:t>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Найти практическую задачу решающуюся с </a:t>
            </a:r>
            <a:r>
              <a:rPr lang="ru-RU" dirty="0"/>
              <a:t>п</a:t>
            </a:r>
            <a:r>
              <a:rPr lang="ru-RU" dirty="0" smtClean="0"/>
              <a:t>омощью рассмотренных методов</a:t>
            </a:r>
            <a:r>
              <a:rPr lang="en-US" dirty="0" smtClean="0"/>
              <a:t>;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 smtClean="0"/>
              <a:t>На примере найденной задачи сравнить рассмотренные методы</a:t>
            </a:r>
            <a:r>
              <a:rPr lang="en-US" dirty="0" smtClean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9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8673" y="2419075"/>
                <a:ext cx="4508906" cy="10516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1400" dirty="0"/>
                  <a:t>г</a:t>
                </a:r>
                <a:r>
                  <a:rPr lang="ru-RU" sz="1400" dirty="0" smtClean="0"/>
                  <a:t>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1400" dirty="0" smtClean="0"/>
                  <a:t> - некоторое </a:t>
                </a:r>
                <a:r>
                  <a:rPr lang="en-US" sz="1400" i="1" dirty="0" smtClean="0"/>
                  <a:t>k</a:t>
                </a:r>
                <a:r>
                  <a:rPr lang="en-US" sz="1400" dirty="0" smtClean="0"/>
                  <a:t>-</a:t>
                </a:r>
                <a:r>
                  <a:rPr lang="ru-RU" sz="1400" dirty="0" smtClean="0"/>
                  <a:t>е приближение,</a:t>
                </a:r>
              </a:p>
              <a:p>
                <a:pPr marL="0" indent="0">
                  <a:buNone/>
                </a:pPr>
                <a:r>
                  <a:rPr lang="ru-RU" sz="14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1400" dirty="0" smtClean="0"/>
                  <a:t> - величина шага из </a:t>
                </a:r>
                <a:r>
                  <a:rPr lang="en-US" sz="1400" dirty="0" smtClean="0"/>
                  <a:t>k-</a:t>
                </a:r>
                <a:r>
                  <a:rPr lang="ru-RU" sz="1400" dirty="0" err="1" smtClean="0"/>
                  <a:t>го</a:t>
                </a:r>
                <a:r>
                  <a:rPr lang="ru-RU" sz="1400" dirty="0" smtClean="0"/>
                  <a:t> приближения,</a:t>
                </a:r>
              </a:p>
              <a:p>
                <a:pPr marL="0" indent="0">
                  <a:buNone/>
                </a:pPr>
                <a:r>
                  <a:rPr lang="ru-RU" sz="14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ru-RU" sz="1400" dirty="0" smtClean="0"/>
                  <a:t> - направление шага из </a:t>
                </a:r>
                <a:r>
                  <a:rPr lang="en-US" sz="1400" dirty="0"/>
                  <a:t>k-</a:t>
                </a:r>
                <a:r>
                  <a:rPr lang="ru-RU" sz="1400" dirty="0" err="1"/>
                  <a:t>го</a:t>
                </a:r>
                <a:r>
                  <a:rPr lang="ru-RU" sz="1400" dirty="0"/>
                  <a:t> приближения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8673" y="2419075"/>
                <a:ext cx="4508906" cy="1051647"/>
              </a:xfrm>
              <a:blipFill rotWithShape="0">
                <a:blip r:embed="rId2"/>
                <a:stretch>
                  <a:fillRect l="-405" t="-1163" b="-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970125" y="2016255"/>
                <a:ext cx="3146002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ru-RU" sz="2400" i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ru-RU" sz="2400" i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125" y="2016255"/>
                <a:ext cx="3146002" cy="46820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580848" y="1489429"/>
            <a:ext cx="3924555" cy="61535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Основная формула</a:t>
            </a:r>
            <a:endParaRPr lang="ru-RU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2477331" y="431320"/>
            <a:ext cx="4406548" cy="6153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Тип решаемых задач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3179705" y="1093084"/>
                <a:ext cx="27268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705" y="1093084"/>
                <a:ext cx="272683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Заголовок 1"/>
          <p:cNvSpPr txBox="1">
            <a:spLocks/>
          </p:cNvSpPr>
          <p:nvPr/>
        </p:nvSpPr>
        <p:spPr>
          <a:xfrm>
            <a:off x="3012983" y="3718660"/>
            <a:ext cx="3060286" cy="6153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Антиградиент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1736827" y="4197565"/>
                <a:ext cx="5612595" cy="6455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6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num>
                            <m:den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,− 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num>
                            <m:den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ru-RU" sz="1600" i="0">
                              <a:latin typeface="Cambria Math" panose="02040503050406030204" pitchFamily="18" charset="0"/>
                            </a:rPr>
                            <m:t>,…,− 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num>
                            <m:den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827" y="4197565"/>
                <a:ext cx="5612595" cy="64556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Заголовок 1"/>
          <p:cNvSpPr txBox="1">
            <a:spLocks/>
          </p:cNvSpPr>
          <p:nvPr/>
        </p:nvSpPr>
        <p:spPr>
          <a:xfrm>
            <a:off x="2139352" y="4921568"/>
            <a:ext cx="5459693" cy="6153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 smtClean="0"/>
              <a:t>Критерий оценки точности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3937757" y="5432862"/>
                <a:ext cx="1862881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′(</m:t>
                              </m:r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757" y="5432862"/>
                <a:ext cx="1862881" cy="404983"/>
              </a:xfrm>
              <a:prstGeom prst="rect">
                <a:avLst/>
              </a:prstGeom>
              <a:blipFill rotWithShape="0">
                <a:blip r:embed="rId6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40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0859" y="166138"/>
            <a:ext cx="6292809" cy="641230"/>
          </a:xfrm>
        </p:spPr>
        <p:txBody>
          <a:bodyPr/>
          <a:lstStyle/>
          <a:p>
            <a:r>
              <a:rPr lang="ru-RU" dirty="0" smtClean="0"/>
              <a:t>Метод градиентного спуска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2722" y="807368"/>
                <a:ext cx="5033353" cy="5049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 smtClean="0"/>
                  <a:t>Направление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; </a:t>
                </a:r>
                <a:r>
                  <a:rPr lang="ru-RU" dirty="0" smtClean="0"/>
                  <a:t>Шаг</a:t>
                </a:r>
                <a:r>
                  <a:rPr lang="en-US" dirty="0" smtClean="0"/>
                  <a:t>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n-US" dirty="0"/>
                  <a:t>;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2722" y="807368"/>
                <a:ext cx="5033353" cy="504973"/>
              </a:xfrm>
              <a:blipFill rotWithShape="0">
                <a:blip r:embed="rId2"/>
                <a:stretch>
                  <a:fillRect l="-1091" t="-60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6"/>
            <a:ext cx="8362486" cy="419212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6"/>
            <a:ext cx="8362486" cy="419212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6"/>
            <a:ext cx="8362486" cy="419212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6"/>
            <a:ext cx="8362486" cy="419212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4"/>
            <a:ext cx="8362486" cy="419212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01" y="1578946"/>
            <a:ext cx="8362486" cy="419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4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74814" y="186906"/>
            <a:ext cx="6715504" cy="60672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Методы сопряженных градиентов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30090" y="793631"/>
                <a:ext cx="6404951" cy="4618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b="1" dirty="0" smtClean="0"/>
                  <a:t>Выбор шага</a:t>
                </a:r>
                <a:r>
                  <a:rPr lang="en-US" b="1" dirty="0" smtClean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0090" y="793631"/>
                <a:ext cx="6404951" cy="461841"/>
              </a:xfrm>
              <a:blipFill rotWithShape="0">
                <a:blip r:embed="rId2"/>
                <a:stretch>
                  <a:fillRect l="-6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7" y="1400356"/>
            <a:ext cx="8616977" cy="431970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7" y="1400355"/>
            <a:ext cx="8616977" cy="431970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7" y="1400354"/>
            <a:ext cx="8616977" cy="431970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7" y="1400353"/>
            <a:ext cx="8616977" cy="431970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57" y="1400353"/>
            <a:ext cx="8616977" cy="431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7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3355" y="573966"/>
            <a:ext cx="5904621" cy="6326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Метод наискорейшего спуска</a:t>
            </a:r>
            <a:endParaRPr lang="ru-RU" dirty="0"/>
          </a:p>
        </p:txBody>
      </p:sp>
      <p:pic>
        <p:nvPicPr>
          <p:cNvPr id="1026" name="Picture 2" descr="Pictur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583" y="2364615"/>
            <a:ext cx="7108164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448933" y="1288471"/>
                <a:ext cx="3053469" cy="374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 smtClean="0"/>
                  <a:t>Направление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933" y="1288471"/>
                <a:ext cx="3053469" cy="374270"/>
              </a:xfrm>
              <a:prstGeom prst="rect">
                <a:avLst/>
              </a:prstGeom>
              <a:blipFill rotWithShape="0">
                <a:blip r:embed="rId3"/>
                <a:stretch>
                  <a:fillRect l="-1796" t="-8065" b="-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38087" y="1826543"/>
                <a:ext cx="1675159" cy="374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087" y="1826543"/>
                <a:ext cx="1675159" cy="374270"/>
              </a:xfrm>
              <a:prstGeom prst="rect">
                <a:avLst/>
              </a:prstGeom>
              <a:blipFill rotWithShape="0">
                <a:blip r:embed="rId4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52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50365" y="385313"/>
            <a:ext cx="5050606" cy="718868"/>
          </a:xfrm>
        </p:spPr>
        <p:txBody>
          <a:bodyPr/>
          <a:lstStyle/>
          <a:p>
            <a:r>
              <a:rPr lang="ru-RU" dirty="0" smtClean="0"/>
              <a:t>Метод </a:t>
            </a:r>
            <a:r>
              <a:rPr lang="ru-RU" dirty="0" err="1" smtClean="0"/>
              <a:t>Флетчера-Ривса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450365" y="1463615"/>
                <a:ext cx="5900005" cy="6868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Направление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65" y="1463615"/>
                <a:ext cx="5900005" cy="686855"/>
              </a:xfrm>
              <a:prstGeom prst="rect">
                <a:avLst/>
              </a:prstGeom>
              <a:blipFill rotWithShape="0">
                <a:blip r:embed="rId2"/>
                <a:stretch>
                  <a:fillRect l="-9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86231" y="25637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Picture 1" descr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211" y="2632713"/>
            <a:ext cx="59340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90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66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Максимизация прибыли гипотетического предприятия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201634"/>
                  </p:ext>
                </p:extLst>
              </p:nvPr>
            </p:nvGraphicFramePr>
            <p:xfrm>
              <a:off x="1319842" y="2475781"/>
              <a:ext cx="7487731" cy="109330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71732"/>
                    <a:gridCol w="2326845"/>
                    <a:gridCol w="1416620"/>
                    <a:gridCol w="1872534"/>
                  </a:tblGrid>
                  <a:tr h="3309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Вид изделия (</a:t>
                          </a:r>
                          <a:r>
                            <a:rPr lang="en-US" sz="1200" dirty="0" err="1">
                              <a:effectLst/>
                            </a:rPr>
                            <a:t>i</a:t>
                          </a:r>
                          <a:r>
                            <a:rPr lang="ru-RU" sz="1200" dirty="0">
                              <a:effectLst/>
                            </a:rPr>
                            <a:t>)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Себестоимость у.е.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с</m:t>
                                  </m:r>
                                </m:e>
                                <m:sup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1200">
                              <a:effectLst/>
                            </a:rPr>
                            <a:t>)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Цена у.е. 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oMath>
                          </a14:m>
                          <a:r>
                            <a:rPr lang="ru-RU" sz="1200" dirty="0">
                              <a:effectLst/>
                            </a:rPr>
                            <a:t>)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>
                              <a:effectLst/>
                            </a:rPr>
                            <a:t>Коэффициент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oMath>
                          </a14:m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381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7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10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0,125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381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9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14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0,5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201634"/>
                  </p:ext>
                </p:extLst>
              </p:nvPr>
            </p:nvGraphicFramePr>
            <p:xfrm>
              <a:off x="1319842" y="2475781"/>
              <a:ext cx="7487731" cy="109330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71732"/>
                    <a:gridCol w="2326845"/>
                    <a:gridCol w="1416620"/>
                    <a:gridCol w="1872534"/>
                  </a:tblGrid>
                  <a:tr h="3309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200" dirty="0">
                              <a:effectLst/>
                            </a:rPr>
                            <a:t>Вид изделия (</a:t>
                          </a:r>
                          <a:r>
                            <a:rPr lang="en-US" sz="1200" dirty="0" err="1">
                              <a:effectLst/>
                            </a:rPr>
                            <a:t>i</a:t>
                          </a:r>
                          <a:r>
                            <a:rPr lang="ru-RU" sz="1200" dirty="0">
                              <a:effectLst/>
                            </a:rPr>
                            <a:t>)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 rotWithShape="0">
                          <a:blip r:embed="rId2"/>
                          <a:stretch>
                            <a:fillRect l="-80628" t="-14815" r="-142408" b="-2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 rotWithShape="0">
                          <a:blip r:embed="rId2"/>
                          <a:stretch>
                            <a:fillRect l="-296137" t="-14815" r="-133476" b="-2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 rotWithShape="0">
                          <a:blip r:embed="rId2"/>
                          <a:stretch>
                            <a:fillRect l="-300651" t="-14815" r="-1303" b="-237037"/>
                          </a:stretch>
                        </a:blipFill>
                      </a:tcPr>
                    </a:tc>
                  </a:tr>
                  <a:tr h="381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7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10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0,125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381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2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>
                              <a:effectLst/>
                            </a:rPr>
                            <a:t>9</a:t>
                          </a:r>
                          <a:endParaRPr lang="ru-RU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14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400" dirty="0">
                              <a:effectLst/>
                            </a:rPr>
                            <a:t>0,5</a:t>
                          </a:r>
                          <a:endParaRPr lang="ru-RU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4416091" y="1812349"/>
                <a:ext cx="1606402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ru-RU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∗</m:t>
                            </m:r>
                          </m:sup>
                        </m:sSubSup>
                        <m:r>
                          <a:rPr lang="ru-RU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= </m:t>
                        </m:r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2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91" y="1812349"/>
                <a:ext cx="1606402" cy="369588"/>
              </a:xfrm>
              <a:prstGeom prst="rect">
                <a:avLst/>
              </a:prstGeom>
              <a:blipFill rotWithShape="0">
                <a:blip r:embed="rId3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040650" y="3949841"/>
                <a:ext cx="4357283" cy="3730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3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−0,125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i="0">
                          <a:latin typeface="Cambria Math" panose="02040503050406030204" pitchFamily="18" charset="0"/>
                        </a:rPr>
                        <m:t>−0,5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650" y="3949841"/>
                <a:ext cx="4357283" cy="373051"/>
              </a:xfrm>
              <a:prstGeom prst="rect">
                <a:avLst/>
              </a:prstGeom>
              <a:blipFill rotWithShape="0"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3705575" y="4607307"/>
                <a:ext cx="30274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𝑚𝑎𝑥𝑓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 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𝑚𝑖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575" y="4607307"/>
                <a:ext cx="3027432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20000" r="-16734" b="-19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893173" y="5261054"/>
                <a:ext cx="4652236" cy="3730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=−3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−5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+0,125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i="0">
                          <a:latin typeface="Cambria Math" panose="02040503050406030204" pitchFamily="18" charset="0"/>
                        </a:rPr>
                        <m:t>+0,5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173" y="5261054"/>
                <a:ext cx="4652236" cy="373051"/>
              </a:xfrm>
              <a:prstGeom prst="rect">
                <a:avLst/>
              </a:prstGeom>
              <a:blipFill rotWithShape="0"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61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449" y="281796"/>
            <a:ext cx="7776553" cy="822385"/>
          </a:xfrm>
        </p:spPr>
        <p:txBody>
          <a:bodyPr>
            <a:normAutofit/>
          </a:bodyPr>
          <a:lstStyle/>
          <a:p>
            <a:r>
              <a:rPr lang="ru-RU" dirty="0" smtClean="0"/>
              <a:t>Тестирование различных методов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26093" y="1104181"/>
                <a:ext cx="28868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 smtClean="0"/>
                  <a:t>Решение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12;5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=30,5;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093" y="1104181"/>
                <a:ext cx="2886881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903" t="-9836" b="-229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314484" y="1586624"/>
            <a:ext cx="41424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Важные характеристики</a:t>
            </a:r>
            <a:r>
              <a:rPr lang="en-US" dirty="0" smtClean="0"/>
              <a:t>: </a:t>
            </a:r>
            <a:endParaRPr lang="ru-RU" dirty="0" smtClean="0"/>
          </a:p>
          <a:p>
            <a:r>
              <a:rPr lang="ru-RU" dirty="0" smtClean="0"/>
              <a:t>1) время поиска решения</a:t>
            </a:r>
            <a:r>
              <a:rPr lang="en-US" dirty="0" smtClean="0"/>
              <a:t>;</a:t>
            </a:r>
          </a:p>
          <a:p>
            <a:r>
              <a:rPr lang="en-US" dirty="0" smtClean="0"/>
              <a:t>2)</a:t>
            </a:r>
            <a:r>
              <a:rPr lang="ru-RU" dirty="0" smtClean="0"/>
              <a:t> число итераций</a:t>
            </a:r>
            <a:r>
              <a:rPr lang="en-US" dirty="0" smtClean="0"/>
              <a:t>;</a:t>
            </a:r>
          </a:p>
          <a:p>
            <a:r>
              <a:rPr lang="en-US" dirty="0" smtClean="0"/>
              <a:t>3)</a:t>
            </a:r>
            <a:r>
              <a:rPr lang="ru-RU" dirty="0" smtClean="0"/>
              <a:t> среднее время на одну итерацию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732092" y="3269396"/>
            <a:ext cx="30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Точности</a:t>
            </a:r>
            <a:r>
              <a:rPr lang="en-US" dirty="0" smtClean="0"/>
              <a:t>: </a:t>
            </a:r>
            <a:r>
              <a:rPr lang="ru-RU" dirty="0" smtClean="0"/>
              <a:t>0,1</a:t>
            </a:r>
            <a:r>
              <a:rPr lang="en-US" dirty="0" smtClean="0"/>
              <a:t>; </a:t>
            </a:r>
            <a:r>
              <a:rPr lang="ru-RU" dirty="0" smtClean="0"/>
              <a:t>0,</a:t>
            </a:r>
            <a:r>
              <a:rPr lang="en-US" dirty="0" smtClean="0"/>
              <a:t>0</a:t>
            </a:r>
            <a:r>
              <a:rPr lang="ru-RU" dirty="0" smtClean="0"/>
              <a:t>1</a:t>
            </a:r>
            <a:r>
              <a:rPr lang="en-US" dirty="0" smtClean="0"/>
              <a:t>;0,001. 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953032" y="4121171"/>
            <a:ext cx="4633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Начальные приближения</a:t>
            </a:r>
            <a:r>
              <a:rPr lang="en-US" dirty="0" smtClean="0"/>
              <a:t>: </a:t>
            </a:r>
            <a:r>
              <a:rPr lang="ru-RU" dirty="0" smtClean="0"/>
              <a:t>(17</a:t>
            </a:r>
            <a:r>
              <a:rPr lang="en-US" dirty="0" smtClean="0"/>
              <a:t>;25</a:t>
            </a:r>
            <a:r>
              <a:rPr lang="ru-RU" dirty="0" smtClean="0"/>
              <a:t>)</a:t>
            </a:r>
            <a:r>
              <a:rPr lang="en-US" dirty="0" smtClean="0"/>
              <a:t>,(14;3).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594735" y="4972946"/>
            <a:ext cx="5581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Начальный шаг (градиентный спуск)</a:t>
            </a:r>
            <a:r>
              <a:rPr lang="en-US" dirty="0" smtClean="0"/>
              <a:t>: 0,1;1;5;100.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55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Сравнение методов по времени выполнения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438817"/>
              </p:ext>
            </p:extLst>
          </p:nvPr>
        </p:nvGraphicFramePr>
        <p:xfrm>
          <a:off x="1242042" y="1945736"/>
          <a:ext cx="8031960" cy="4137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821"/>
                <a:gridCol w="1100021"/>
                <a:gridCol w="2099972"/>
                <a:gridCol w="2099972"/>
                <a:gridCol w="1382174"/>
              </a:tblGrid>
              <a:tr h="3598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Начальное приближение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Точность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Место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Метод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Время выполнения (с)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(17</a:t>
                      </a:r>
                      <a:r>
                        <a:rPr lang="en-US" sz="1200">
                          <a:effectLst/>
                        </a:rPr>
                        <a:t>;25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0,1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0,1751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0,2399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0,5599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0,01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34670" algn="l"/>
                          <a:tab pos="793750" algn="l"/>
                          <a:tab pos="914400" algn="l"/>
                        </a:tabLst>
                      </a:pPr>
                      <a:r>
                        <a:rPr lang="ru-RU" sz="1000">
                          <a:effectLst/>
                        </a:rPr>
                        <a:t>0,1723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0,2381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1,048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0,001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0,1776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353695" algn="l"/>
                        </a:tabLst>
                      </a:pPr>
                      <a:r>
                        <a:rPr lang="ru-RU" sz="1200" dirty="0" smtClean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189865" algn="l"/>
                          <a:tab pos="319405" algn="l"/>
                        </a:tabLst>
                      </a:pPr>
                      <a:r>
                        <a:rPr lang="ru-RU" sz="1000" dirty="0" smtClean="0">
                          <a:effectLst/>
                        </a:rPr>
                        <a:t>0,3645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1,3573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(14;3)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0,1749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0,2403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0,4864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0,01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0,1675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0,3804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0,826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0,001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Флетчера-Ривса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0,1739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Наискорейшего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0,5131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  <a:tr h="2098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Градиентного спуска</a:t>
                      </a:r>
                      <a:endParaRPr lang="ru-RU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1,1488</a:t>
                      </a:r>
                      <a:endParaRPr lang="ru-RU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9146" marR="5914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76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0242"/>
          </a:xfrm>
        </p:spPr>
        <p:txBody>
          <a:bodyPr/>
          <a:lstStyle/>
          <a:p>
            <a:pPr algn="ctr"/>
            <a:r>
              <a:rPr lang="ru-RU" dirty="0" smtClean="0"/>
              <a:t>Итоги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49862" y="2022566"/>
                <a:ext cx="8596668" cy="2445917"/>
              </a:xfrm>
            </p:spPr>
            <p:txBody>
              <a:bodyPr/>
              <a:lstStyle/>
              <a:p>
                <a:r>
                  <a:rPr lang="ru-RU" dirty="0" smtClean="0"/>
                  <a:t>Метод </a:t>
                </a:r>
                <a:r>
                  <a:rPr lang="ru-RU" dirty="0" err="1" smtClean="0"/>
                  <a:t>Флетчера-Ривса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 smtClean="0"/>
                  <a:t> лучшие показатели</a:t>
                </a:r>
                <a:r>
                  <a:rPr lang="en-US" dirty="0" smtClean="0"/>
                  <a:t>;</a:t>
                </a:r>
                <a:r>
                  <a:rPr lang="ru-RU" dirty="0" smtClean="0"/>
                  <a:t> сходится за конечное число шагов</a:t>
                </a:r>
                <a:r>
                  <a:rPr lang="en-US" dirty="0" smtClean="0"/>
                  <a:t> </a:t>
                </a:r>
                <a:r>
                  <a:rPr lang="ru-RU" dirty="0" smtClean="0"/>
                  <a:t>и дает точное решение, вне зависимости от начальный значений</a:t>
                </a:r>
                <a:r>
                  <a:rPr lang="en-US" dirty="0" smtClean="0"/>
                  <a:t>; </a:t>
                </a:r>
                <a:r>
                  <a:rPr lang="ru-RU" dirty="0" smtClean="0"/>
                  <a:t>но это только для квадратичных функций. </a:t>
                </a:r>
              </a:p>
              <a:p>
                <a:r>
                  <a:rPr lang="ru-RU" dirty="0" smtClean="0"/>
                  <a:t>Метод наискорейшего спуска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smtClean="0"/>
                  <a:t>средние показатели</a:t>
                </a:r>
                <a:r>
                  <a:rPr lang="en-US" dirty="0" smtClean="0"/>
                  <a:t>; </a:t>
                </a:r>
                <a:r>
                  <a:rPr lang="ru-RU" dirty="0" smtClean="0"/>
                  <a:t>не имеет никаких преимуществ перед методом </a:t>
                </a:r>
                <a:r>
                  <a:rPr lang="ru-RU" dirty="0" err="1" smtClean="0"/>
                  <a:t>Флетчера-Ривса</a:t>
                </a:r>
                <a:r>
                  <a:rPr lang="ru-RU" dirty="0" smtClean="0"/>
                  <a:t>.</a:t>
                </a:r>
              </a:p>
              <a:p>
                <a:r>
                  <a:rPr lang="ru-RU" dirty="0" smtClean="0"/>
                  <a:t>Метод градиентного спуска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 smtClean="0"/>
                  <a:t>показывал наихудшие результаты но наиболее прост в реализации.</a:t>
                </a:r>
                <a:endParaRPr lang="en-US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9862" y="2022566"/>
                <a:ext cx="8596668" cy="2445917"/>
              </a:xfrm>
              <a:blipFill rotWithShape="0">
                <a:blip r:embed="rId2"/>
                <a:stretch>
                  <a:fillRect l="-142" t="-1746" r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46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9984" y="1877683"/>
            <a:ext cx="4903956" cy="641230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27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885</TotalTime>
  <Words>337</Words>
  <Application>Microsoft Office PowerPoint</Application>
  <PresentationFormat>Широкоэкранный</PresentationFormat>
  <Paragraphs>128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Грань</vt:lpstr>
      <vt:lpstr>Сравнение методов минимизации ФНП первого порядка</vt:lpstr>
      <vt:lpstr>Задачи проекта:</vt:lpstr>
      <vt:lpstr>Основная формула</vt:lpstr>
      <vt:lpstr>Метод градиентного спуска</vt:lpstr>
      <vt:lpstr>Методы сопряженных градиентов</vt:lpstr>
      <vt:lpstr>Метод наискорейшего спуска</vt:lpstr>
      <vt:lpstr>Метод Флетчера-Ривса</vt:lpstr>
      <vt:lpstr>Максимизация прибыли гипотетического предприятия</vt:lpstr>
      <vt:lpstr>Тестирование различных методов</vt:lpstr>
      <vt:lpstr>Сравнение методов по времени выполнения</vt:lpstr>
      <vt:lpstr>Итоги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минимизации ФНП первого порядка (градиентные методы)</dc:title>
  <dc:creator>Пользователь Windows</dc:creator>
  <cp:lastModifiedBy>Пользователь Windows</cp:lastModifiedBy>
  <cp:revision>51</cp:revision>
  <dcterms:created xsi:type="dcterms:W3CDTF">2020-05-13T20:07:10Z</dcterms:created>
  <dcterms:modified xsi:type="dcterms:W3CDTF">2020-05-23T04:16:21Z</dcterms:modified>
</cp:coreProperties>
</file>